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1 - INTRO : EMOTION</a:t>
            </a:r>
          </a:p>
          <a:p>
            <a:r>
              <a:t>Accrocher avec un chiffre marquant. Adapter selon vos donnees reelles.</a:t>
            </a:r>
          </a:p>
          <a:p>
            <a:r>
              <a:t>But: capter l'attention, laisser un souvenir, annoncer le probleme.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2 - INSIGHT SOLUTIONS</a:t>
            </a:r>
          </a:p>
          <a:p>
            <a:r>
              <a:t>Montrer que vous connaissez l'industrie. Donner de la force aux competiteurs</a:t>
            </a:r>
          </a:p>
          <a:p>
            <a:r>
              <a:t>mais le probleme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3 - PROBLEME</a:t>
            </a:r>
          </a:p>
          <a:p>
            <a:r>
              <a:t>Definition claire et precise. Transition — vous preparez votre arrivee.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4 - BOOM VOTRE SOLUTION</a:t>
            </a:r>
          </a:p>
          <a:p>
            <a:r>
              <a:t>Moment fort! Ajouter un screenshot/mockup dans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4 (suite) - DEMO</a:t>
            </a:r>
          </a:p>
          <a:p>
            <a:r>
              <a:t>Client reel ou fictif. AJOUTER UN SCREENSHOT dans Canva!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4 (suite) - MODELE D'AFFAIRES</a:t>
            </a:r>
          </a:p>
          <a:p>
            <a:r>
              <a:t>Adapter selon votre strategie reelle.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5 - OPPORTUNITE</a:t>
            </a:r>
          </a:p>
          <a:p>
            <a:r>
              <a:t>Chiffres serieux! Le marche court terme (Montreal) DOIT etre aborde.</a:t>
            </a:r>
          </a:p>
          <a:p>
            <a:r>
              <a:t>Remplacer les $X par vos vrais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6 - TRACTION</a:t>
            </a:r>
          </a:p>
          <a:p>
            <a:r>
              <a:t>Remplacer les X par vos vrais chiffres.</a:t>
            </a:r>
          </a:p>
          <a:p>
            <a:r>
              <a:t>Quand avez-vous commence? Hypotheses validees?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7 - EQUIPE</a:t>
            </a:r>
          </a:p>
          <a:p>
            <a:r>
              <a:t>Role clair. Pas un CV condense. Ajouter les photos dans Canva!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8 - VISION &amp; ODD</a:t>
            </a:r>
          </a:p>
          <a:p>
            <a:r>
              <a:t>Pourquoi faites-vous ce que vous faites? Adapter les ODD.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9 - PROCHAINES ETAPES</a:t>
            </a:r>
          </a:p>
          <a:p>
            <a:r>
              <a:t>Echeancier des prochains mois. Reve realiste.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10 - ASK</a:t>
            </a:r>
          </a:p>
          <a:p>
            <a:r>
              <a:t>Demande concrete. Si financement: pourquoi et pour quoi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ETAPE 11 - CLOTURE</a:t>
            </a:r>
          </a:p>
          <a:p>
            <a:r>
              <a:t>Fermer la boucle. Lien a l'intro. Fin de l'histoire, debut du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Poppins"/>
              </a:defRPr>
            </a:pPr>
            <a:r>
              <a:rPr sz="4800" b="1">
                <a:solidFill>
                  <a:srgbClr val="FFFFFF"/>
                </a:solidFill>
                <a:latin typeface="Poppins"/>
              </a:rPr>
              <a:t>8 joueurs sur 10 abandonnent</a:t>
            </a:r>
            <a:br/>
            <a:r>
              <a:rPr sz="4800" b="1">
                <a:solidFill>
                  <a:srgbClr val="FFFFFF"/>
                </a:solidFill>
                <a:latin typeface="Poppins"/>
              </a:rPr>
              <a:t>leur sport de raquette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D6A6D"/>
                </a:solidFill>
                <a:latin typeface="Inter"/>
              </a:defRPr>
            </a:pPr>
            <a:r>
              <a:rPr sz="2800" b="0">
                <a:solidFill>
                  <a:srgbClr val="ED6A6D"/>
                </a:solidFill>
                <a:latin typeface="Inter"/>
              </a:rPr>
              <a:t>faute de trouver quelqu'un avec qui jouer.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1031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Poppins"/>
              </a:defRPr>
            </a:pPr>
            <a:r>
              <a:rPr sz="2200" b="1">
                <a:solidFill>
                  <a:srgbClr val="2DD4BF"/>
                </a:solidFill>
                <a:latin typeface="Poppins"/>
              </a:rPr>
              <a:t>RALLIA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5760"/>
            <a:ext cx="2743200" cy="1138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Insight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Comment les joueurs font-ils aujourd'hui?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  <a:latin typeface="Inter"/>
              </a:defRPr>
            </a:pPr>
            <a:r>
              <a:rPr sz="2200">
                <a:solidFill>
                  <a:srgbClr val="404040"/>
                </a:solidFill>
                <a:latin typeface="Inter"/>
              </a:rPr>
              <a:t>Groupes WhatsApp / Facebook — chaos de messages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  <a:latin typeface="Inter"/>
              </a:defRPr>
            </a:pPr>
            <a:r>
              <a:rPr sz="2200">
                <a:solidFill>
                  <a:srgbClr val="404040"/>
                </a:solidFill>
                <a:latin typeface="Inter"/>
              </a:rPr>
              <a:t>Annulations de derniere minute sans consequences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  <a:latin typeface="Inter"/>
              </a:defRPr>
            </a:pPr>
            <a:r>
              <a:rPr sz="2200">
                <a:solidFill>
                  <a:srgbClr val="404040"/>
                </a:solidFill>
                <a:latin typeface="Inter"/>
              </a:rPr>
              <a:t>Niveaux incompatibles — frustration des deux cotes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  <a:latin typeface="Inter"/>
              </a:defRPr>
            </a:pPr>
            <a:r>
              <a:rPr sz="2200">
                <a:solidFill>
                  <a:srgbClr val="404040"/>
                </a:solidFill>
                <a:latin typeface="Inter"/>
              </a:rPr>
              <a:t>Pas de visibilite sur la fiabilite des joueurs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4572000" cy="45720"/>
          </a:xfrm>
          <a:prstGeom prst="rect">
            <a:avLst/>
          </a:prstGeom>
          <a:solidFill>
            <a:srgbClr val="ED6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6A6D"/>
                </a:solidFill>
                <a:latin typeface="Inter"/>
              </a:defRPr>
            </a:pPr>
            <a:r>
              <a:rPr sz="1800" b="1">
                <a:solidFill>
                  <a:srgbClr val="ED6A6D"/>
                </a:solidFill>
                <a:latin typeface="Inter"/>
              </a:rPr>
              <a:t>Malgre ces solutions, le probleme persiste.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Le probleme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71717"/>
                </a:solidFill>
                <a:latin typeface="Poppins"/>
              </a:defRPr>
            </a:pPr>
            <a:r>
              <a:rPr sz="4200" b="1">
                <a:solidFill>
                  <a:srgbClr val="171717"/>
                </a:solidFill>
                <a:latin typeface="Poppins"/>
              </a:rPr>
              <a:t>Trouver un partenaire fiable,</a:t>
            </a:r>
            <a:br/>
            <a:r>
              <a:rPr sz="4200" b="1">
                <a:solidFill>
                  <a:srgbClr val="171717"/>
                </a:solidFill>
                <a:latin typeface="Poppins"/>
              </a:rPr>
              <a:t>au bon niveau, au bon moment.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Inter"/>
              </a:defRPr>
            </a:pPr>
            <a:r>
              <a:rPr sz="2400" b="0">
                <a:solidFill>
                  <a:srgbClr val="737373"/>
                </a:solidFill>
                <a:latin typeface="Inter"/>
              </a:rPr>
              <a:t>C'est le plus grand frein a la pratique</a:t>
            </a:r>
            <a:br/>
            <a:r>
              <a:rPr sz="2400" b="0">
                <a:solidFill>
                  <a:srgbClr val="737373"/>
                </a:solidFill>
                <a:latin typeface="Inter"/>
              </a:rPr>
              <a:t>des sports de raquette.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  <p:pic>
        <p:nvPicPr>
          <p:cNvPr id="9" name="Picture 8" descr="pexels-michaeldupuis-401573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411" y="0"/>
            <a:ext cx="51442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0" y="1920240"/>
            <a:ext cx="3017520" cy="45720"/>
          </a:xfrm>
          <a:prstGeom prst="rect">
            <a:avLst/>
          </a:prstGeom>
          <a:solidFill>
            <a:srgbClr val="ED6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Inter"/>
              </a:defRPr>
            </a:pPr>
            <a:r>
              <a:rPr sz="2800" b="0">
                <a:solidFill>
                  <a:srgbClr val="FFFFFF"/>
                </a:solidFill>
                <a:latin typeface="Inter"/>
              </a:rPr>
              <a:t>L'app qui connecte les joueurs de</a:t>
            </a:r>
            <a:br/>
            <a:r>
              <a:rPr sz="2800" b="0">
                <a:solidFill>
                  <a:srgbClr val="FFFFFF"/>
                </a:solidFill>
                <a:latin typeface="Inter"/>
              </a:rPr>
              <a:t>tennis et pickleball en un tap.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40480"/>
            <a:ext cx="2926080" cy="22860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645920" y="4114800"/>
            <a:ext cx="237744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BF"/>
                </a:solidFill>
                <a:latin typeface="Poppins"/>
              </a:defRPr>
            </a:pPr>
            <a:r>
              <a:rPr sz="1800" b="1">
                <a:solidFill>
                  <a:srgbClr val="2DD4BF"/>
                </a:solidFill>
                <a:latin typeface="Poppins"/>
              </a:rPr>
              <a:t>Matchmaking intelligent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D4D4"/>
                </a:solidFill>
                <a:latin typeface="Inter"/>
              </a:defRPr>
            </a:pPr>
            <a:r>
              <a:rPr sz="1400" b="0">
                <a:solidFill>
                  <a:srgbClr val="D4D4D4"/>
                </a:solidFill>
                <a:latin typeface="Inter"/>
              </a:rPr>
              <a:t>Par niveau NTRP/DUPR,</a:t>
            </a:r>
            <a:br/>
            <a:r>
              <a:rPr sz="1400" b="0">
                <a:solidFill>
                  <a:srgbClr val="D4D4D4"/>
                </a:solidFill>
                <a:latin typeface="Inter"/>
              </a:rPr>
              <a:t>localisation, disponibilite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840480"/>
            <a:ext cx="2926080" cy="22860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5120640" y="4114800"/>
            <a:ext cx="237744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12064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BF"/>
                </a:solidFill>
                <a:latin typeface="Poppins"/>
              </a:defRPr>
            </a:pPr>
            <a:r>
              <a:rPr sz="1800" b="1">
                <a:solidFill>
                  <a:srgbClr val="2DD4BF"/>
                </a:solidFill>
                <a:latin typeface="Poppins"/>
              </a:rPr>
              <a:t>Score de fiabilite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D4D4"/>
                </a:solidFill>
                <a:latin typeface="Inter"/>
              </a:defRPr>
            </a:pPr>
            <a:r>
              <a:rPr sz="1400" b="0">
                <a:solidFill>
                  <a:srgbClr val="D4D4D4"/>
                </a:solidFill>
                <a:latin typeface="Inter"/>
              </a:rPr>
              <a:t>Reputation basee sur</a:t>
            </a:r>
            <a:br/>
            <a:r>
              <a:rPr sz="1400" b="0">
                <a:solidFill>
                  <a:srgbClr val="D4D4D4"/>
                </a:solidFill>
                <a:latin typeface="Inter"/>
              </a:rPr>
              <a:t>la ponctualite et le fair-play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840480"/>
            <a:ext cx="2926080" cy="22860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8595360" y="4114800"/>
            <a:ext cx="237744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9536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BF"/>
                </a:solidFill>
                <a:latin typeface="Poppins"/>
              </a:defRPr>
            </a:pPr>
            <a:r>
              <a:rPr sz="1800" b="1">
                <a:solidFill>
                  <a:srgbClr val="2DD4BF"/>
                </a:solidFill>
                <a:latin typeface="Poppins"/>
              </a:rPr>
              <a:t>Communautes locales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D4D4"/>
                </a:solidFill>
                <a:latin typeface="Inter"/>
              </a:defRPr>
            </a:pPr>
            <a:r>
              <a:rPr sz="1400" b="0">
                <a:solidFill>
                  <a:srgbClr val="D4D4D4"/>
                </a:solidFill>
                <a:latin typeface="Inter"/>
              </a:rPr>
              <a:t>Rejoindre un club,</a:t>
            </a:r>
            <a:br/>
            <a:r>
              <a:rPr sz="1400" b="0">
                <a:solidFill>
                  <a:srgbClr val="D4D4D4"/>
                </a:solidFill>
                <a:latin typeface="Inter"/>
              </a:rPr>
              <a:t>trouver des matchs pres de chez soi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65760"/>
            <a:ext cx="4846320" cy="20109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L'experience Rallia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  <a:latin typeface="Inter"/>
              </a:defRPr>
            </a:pPr>
            <a:r>
              <a:rPr sz="1800">
                <a:solidFill>
                  <a:srgbClr val="404040"/>
                </a:solidFill>
                <a:latin typeface="Inter"/>
              </a:rPr>
              <a:t>1. Sarah ouvre l'app — matchs disponibles pres d'elle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  <a:latin typeface="Inter"/>
              </a:defRPr>
            </a:pPr>
            <a:r>
              <a:rPr sz="1800">
                <a:solidFill>
                  <a:srgbClr val="404040"/>
                </a:solidFill>
                <a:latin typeface="Inter"/>
              </a:rPr>
              <a:t>2. Filtre par niveau (NTRP 3.5) et creneau (samedi matin)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  <a:latin typeface="Inter"/>
              </a:defRPr>
            </a:pPr>
            <a:r>
              <a:rPr sz="1800">
                <a:solidFill>
                  <a:srgbClr val="404040"/>
                </a:solidFill>
                <a:latin typeface="Inter"/>
              </a:rPr>
              <a:t>3. Un tap pour rejoindre — notification instantanee</a:t>
            </a:r>
          </a:p>
          <a:p>
            <a:pPr>
              <a:spcAft>
                <a:spcPts val="1400"/>
              </a:spcAft>
              <a:defRPr sz="1800">
                <a:solidFill>
                  <a:srgbClr val="404040"/>
                </a:solidFill>
                <a:latin typeface="Inter"/>
              </a:defRPr>
            </a:pPr>
            <a:r>
              <a:rPr sz="1800">
                <a:solidFill>
                  <a:srgbClr val="404040"/>
                </a:solidFill>
                <a:latin typeface="Inter"/>
              </a:rPr>
              <a:t>4. Apres le match, notation mutuelle = score de fiabilite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097280"/>
            <a:ext cx="457200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132320" y="32004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3A3A3"/>
                </a:solidFill>
                <a:latin typeface="Inter"/>
              </a:defRPr>
            </a:pPr>
            <a:r>
              <a:rPr sz="1600" b="0">
                <a:solidFill>
                  <a:srgbClr val="A3A3A3"/>
                </a:solidFill>
                <a:latin typeface="Inter"/>
              </a:rPr>
              <a:t>[Screenshot de l'app ici]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097280"/>
            <a:ext cx="4572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Modele d'affaires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Modele de revenus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01752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017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1717"/>
                </a:solidFill>
                <a:latin typeface="Poppins"/>
              </a:defRPr>
            </a:pPr>
            <a:r>
              <a:rPr sz="2200" b="1">
                <a:solidFill>
                  <a:srgbClr val="171717"/>
                </a:solidFill>
                <a:latin typeface="Poppins"/>
              </a:rPr>
              <a:t>Freemium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252"/>
                </a:solidFill>
                <a:latin typeface="Inter"/>
              </a:defRPr>
            </a:pPr>
            <a:r>
              <a:rPr sz="1600" b="0">
                <a:solidFill>
                  <a:srgbClr val="525252"/>
                </a:solidFill>
                <a:latin typeface="Inter"/>
              </a:rPr>
              <a:t>Gratuit pour jouer.</a:t>
            </a:r>
            <a:br/>
            <a:r>
              <a:rPr sz="1600" b="0">
                <a:solidFill>
                  <a:srgbClr val="525252"/>
                </a:solidFill>
                <a:latin typeface="Inter"/>
              </a:rPr>
              <a:t>Premium pour fonctionnalites</a:t>
            </a:r>
            <a:br/>
            <a:r>
              <a:rPr sz="1600" b="0">
                <a:solidFill>
                  <a:srgbClr val="525252"/>
                </a:solidFill>
                <a:latin typeface="Inter"/>
              </a:rPr>
              <a:t>avancees.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301752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0" y="2286000"/>
            <a:ext cx="3017520" cy="54864"/>
          </a:xfrm>
          <a:prstGeom prst="rect">
            <a:avLst/>
          </a:prstGeom>
          <a:solidFill>
            <a:srgbClr val="ED6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1717"/>
                </a:solidFill>
                <a:latin typeface="Poppins"/>
              </a:defRPr>
            </a:pPr>
            <a:r>
              <a:rPr sz="2200" b="1">
                <a:solidFill>
                  <a:srgbClr val="171717"/>
                </a:solidFill>
                <a:latin typeface="Poppins"/>
              </a:rPr>
              <a:t>Frais de 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252"/>
                </a:solidFill>
                <a:latin typeface="Inter"/>
              </a:defRPr>
            </a:pPr>
            <a:r>
              <a:rPr sz="1600" b="0">
                <a:solidFill>
                  <a:srgbClr val="525252"/>
                </a:solidFill>
                <a:latin typeface="Inter"/>
              </a:rPr>
              <a:t>Commission sur les</a:t>
            </a:r>
            <a:br/>
            <a:r>
              <a:rPr sz="1600" b="0">
                <a:solidFill>
                  <a:srgbClr val="525252"/>
                </a:solidFill>
                <a:latin typeface="Inter"/>
              </a:rPr>
              <a:t>reservations de terrain</a:t>
            </a:r>
            <a:br/>
            <a:r>
              <a:rPr sz="1600" b="0">
                <a:solidFill>
                  <a:srgbClr val="525252"/>
                </a:solidFill>
                <a:latin typeface="Inter"/>
              </a:rPr>
              <a:t>via l'app.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01752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017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1717"/>
                </a:solidFill>
                <a:latin typeface="Poppins"/>
              </a:defRPr>
            </a:pPr>
            <a:r>
              <a:rPr sz="2200" b="1">
                <a:solidFill>
                  <a:srgbClr val="171717"/>
                </a:solidFill>
                <a:latin typeface="Poppins"/>
              </a:rPr>
              <a:t>Partenariats clubs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252"/>
                </a:solidFill>
                <a:latin typeface="Inter"/>
              </a:defRPr>
            </a:pPr>
            <a:r>
              <a:rPr sz="1600" b="0">
                <a:solidFill>
                  <a:srgbClr val="525252"/>
                </a:solidFill>
                <a:latin typeface="Inter"/>
              </a:rPr>
              <a:t>Abonnement pour les clubs</a:t>
            </a:r>
            <a:br/>
            <a:r>
              <a:rPr sz="1600" b="0">
                <a:solidFill>
                  <a:srgbClr val="525252"/>
                </a:solidFill>
                <a:latin typeface="Inter"/>
              </a:rPr>
              <a:t>qui veulent gerer</a:t>
            </a:r>
            <a:br/>
            <a:r>
              <a:rPr sz="1600" b="0">
                <a:solidFill>
                  <a:srgbClr val="525252"/>
                </a:solidFill>
                <a:latin typeface="Inter"/>
              </a:rPr>
              <a:t>leurs membres.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Opportunite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Un marche en pleine explosion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286000"/>
            <a:ext cx="2560320" cy="256032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BF1"/>
                </a:solidFill>
                <a:latin typeface="Poppins"/>
              </a:defRPr>
            </a:pPr>
            <a:r>
              <a:rPr sz="1600" b="1">
                <a:solidFill>
                  <a:srgbClr val="CCFBF1"/>
                </a:solidFill>
                <a:latin typeface="Poppin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$X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Inter"/>
              </a:defRPr>
            </a:pPr>
            <a:r>
              <a:rPr sz="1400" b="0">
                <a:solidFill>
                  <a:srgbClr val="737373"/>
                </a:solidFill>
                <a:latin typeface="Inter"/>
              </a:rPr>
              <a:t>Marche global sports</a:t>
            </a:r>
            <a:br/>
            <a:r>
              <a:rPr sz="1400" b="0">
                <a:solidFill>
                  <a:srgbClr val="737373"/>
                </a:solidFill>
                <a:latin typeface="Inter"/>
              </a:rPr>
              <a:t>de raquette - Amerique du Nord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2286000"/>
            <a:ext cx="2560320" cy="2560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BF1"/>
                </a:solidFill>
                <a:latin typeface="Poppins"/>
              </a:defRPr>
            </a:pPr>
            <a:r>
              <a:rPr sz="1600" b="1">
                <a:solidFill>
                  <a:srgbClr val="CCFBF1"/>
                </a:solidFill>
                <a:latin typeface="Poppins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$X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Inter"/>
              </a:defRPr>
            </a:pPr>
            <a:r>
              <a:rPr sz="1400" b="0">
                <a:solidFill>
                  <a:srgbClr val="737373"/>
                </a:solidFill>
                <a:latin typeface="Inter"/>
              </a:rPr>
              <a:t>Joueurs actifs au</a:t>
            </a:r>
            <a:br/>
            <a:r>
              <a:rPr sz="1400" b="0">
                <a:solidFill>
                  <a:srgbClr val="737373"/>
                </a:solidFill>
                <a:latin typeface="Inter"/>
              </a:rPr>
              <a:t>Quebec / Ontario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286000"/>
            <a:ext cx="2560320" cy="2560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BF1"/>
                </a:solidFill>
                <a:latin typeface="Poppins"/>
              </a:defRPr>
            </a:pPr>
            <a:r>
              <a:rPr sz="1600" b="1">
                <a:solidFill>
                  <a:srgbClr val="CCFBF1"/>
                </a:solidFill>
                <a:latin typeface="Poppins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08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</a:rPr>
              <a:t>$X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Inter"/>
              </a:defRPr>
            </a:pPr>
            <a:r>
              <a:rPr sz="1400" b="0">
                <a:solidFill>
                  <a:srgbClr val="737373"/>
                </a:solidFill>
                <a:latin typeface="Inter"/>
              </a:rPr>
              <a:t>Montreal — marche</a:t>
            </a:r>
            <a:br/>
            <a:r>
              <a:rPr sz="1400" b="0">
                <a:solidFill>
                  <a:srgbClr val="737373"/>
                </a:solidFill>
                <a:latin typeface="Inter"/>
              </a:rPr>
              <a:t>de lancement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Ce qu'on a accompli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377440" cy="1645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3774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Poppins"/>
              </a:defRPr>
            </a:pPr>
            <a:r>
              <a:rPr sz="2400" b="1">
                <a:solidFill>
                  <a:srgbClr val="0F766E"/>
                </a:solidFill>
                <a:latin typeface="Poppins"/>
              </a:rPr>
              <a:t>App en 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37373"/>
                </a:solidFill>
                <a:latin typeface="Inter"/>
              </a:defRPr>
            </a:pPr>
            <a:r>
              <a:rPr sz="1500" b="0">
                <a:solidFill>
                  <a:srgbClr val="737373"/>
                </a:solidFill>
                <a:latin typeface="Inter"/>
              </a:rPr>
              <a:t>iOS sur TestFlight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86000"/>
            <a:ext cx="2377440" cy="1645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23774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7490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Poppins"/>
              </a:defRPr>
            </a:pPr>
            <a:r>
              <a:rPr sz="2400" b="1">
                <a:solidFill>
                  <a:srgbClr val="0F766E"/>
                </a:solidFill>
                <a:latin typeface="Poppins"/>
              </a:rPr>
              <a:t>X joueurs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37373"/>
                </a:solidFill>
                <a:latin typeface="Inter"/>
              </a:defRPr>
            </a:pPr>
            <a:r>
              <a:rPr sz="1500" b="0">
                <a:solidFill>
                  <a:srgbClr val="737373"/>
                </a:solidFill>
                <a:latin typeface="Inter"/>
              </a:rPr>
              <a:t>inscrits en beta privee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377440" cy="1645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23774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Poppins"/>
              </a:defRPr>
            </a:pPr>
            <a:r>
              <a:rPr sz="2400" b="1">
                <a:solidFill>
                  <a:srgbClr val="0F766E"/>
                </a:solidFill>
                <a:latin typeface="Poppins"/>
              </a:rPr>
              <a:t>X matchs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37373"/>
                </a:solidFill>
                <a:latin typeface="Inter"/>
              </a:defRPr>
            </a:pPr>
            <a:r>
              <a:rPr sz="1500" b="0">
                <a:solidFill>
                  <a:srgbClr val="737373"/>
                </a:solidFill>
                <a:latin typeface="Inter"/>
              </a:rPr>
              <a:t>organises via l'app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286000"/>
            <a:ext cx="2377440" cy="16459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9235440" y="2286000"/>
            <a:ext cx="23774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Poppins"/>
              </a:defRPr>
            </a:pPr>
            <a:r>
              <a:rPr sz="2400" b="1">
                <a:solidFill>
                  <a:srgbClr val="0F766E"/>
                </a:solidFill>
                <a:latin typeface="Poppins"/>
              </a:rPr>
              <a:t>Friends &amp;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37373"/>
                </a:solidFill>
                <a:latin typeface="Inter"/>
              </a:defRPr>
            </a:pPr>
            <a:r>
              <a:rPr sz="1500" b="0">
                <a:solidFill>
                  <a:srgbClr val="737373"/>
                </a:solidFill>
                <a:latin typeface="Inter"/>
              </a:rPr>
              <a:t>campagne 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10515600" cy="457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1463040" y="470916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626"/>
                </a:solidFill>
                <a:latin typeface="Poppins"/>
              </a:defRPr>
            </a:pPr>
            <a:r>
              <a:rPr sz="1400" b="1">
                <a:solidFill>
                  <a:srgbClr val="262626"/>
                </a:solidFill>
                <a:latin typeface="Poppins"/>
              </a:rPr>
              <a:t>Ideation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3A3A3"/>
                </a:solidFill>
                <a:latin typeface="Inter"/>
              </a:defRPr>
            </a:pPr>
            <a:r>
              <a:rPr sz="1200" b="0">
                <a:solidFill>
                  <a:srgbClr val="A3A3A3"/>
                </a:solidFill>
                <a:latin typeface="Inter"/>
              </a:rPr>
              <a:t>2025</a:t>
            </a:r>
          </a:p>
        </p:txBody>
      </p:sp>
      <p:sp>
        <p:nvSpPr>
          <p:cNvPr id="26" name="Oval 25"/>
          <p:cNvSpPr/>
          <p:nvPr/>
        </p:nvSpPr>
        <p:spPr>
          <a:xfrm>
            <a:off x="4206240" y="470916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84048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626"/>
                </a:solidFill>
                <a:latin typeface="Poppins"/>
              </a:defRPr>
            </a:pPr>
            <a:r>
              <a:rPr sz="1400" b="1">
                <a:solidFill>
                  <a:srgbClr val="262626"/>
                </a:solidFill>
                <a:latin typeface="Poppins"/>
              </a:rPr>
              <a:t>Developpement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3A3A3"/>
                </a:solidFill>
                <a:latin typeface="Inter"/>
              </a:defRPr>
            </a:pPr>
            <a:r>
              <a:rPr sz="1200" b="0">
                <a:solidFill>
                  <a:srgbClr val="A3A3A3"/>
                </a:solidFill>
                <a:latin typeface="Inter"/>
              </a:rPr>
              <a:t>Ete 2025</a:t>
            </a:r>
          </a:p>
        </p:txBody>
      </p:sp>
      <p:sp>
        <p:nvSpPr>
          <p:cNvPr id="29" name="Oval 28"/>
          <p:cNvSpPr/>
          <p:nvPr/>
        </p:nvSpPr>
        <p:spPr>
          <a:xfrm>
            <a:off x="6949440" y="470916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58368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626"/>
                </a:solidFill>
                <a:latin typeface="Poppins"/>
              </a:defRPr>
            </a:pPr>
            <a:r>
              <a:rPr sz="1400" b="1">
                <a:solidFill>
                  <a:srgbClr val="262626"/>
                </a:solidFill>
                <a:latin typeface="Poppins"/>
              </a:rPr>
              <a:t>Beta privee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3A3A3"/>
                </a:solidFill>
                <a:latin typeface="Inter"/>
              </a:defRPr>
            </a:pPr>
            <a:r>
              <a:rPr sz="1200" b="0">
                <a:solidFill>
                  <a:srgbClr val="A3A3A3"/>
                </a:solidFill>
                <a:latin typeface="Inter"/>
              </a:rPr>
              <a:t>Hiver 2026</a:t>
            </a:r>
          </a:p>
        </p:txBody>
      </p:sp>
      <p:sp>
        <p:nvSpPr>
          <p:cNvPr id="32" name="Oval 31"/>
          <p:cNvSpPr/>
          <p:nvPr/>
        </p:nvSpPr>
        <p:spPr>
          <a:xfrm>
            <a:off x="9692640" y="4709160"/>
            <a:ext cx="274320" cy="274320"/>
          </a:xfrm>
          <a:prstGeom prst="ellipse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32688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626"/>
                </a:solidFill>
                <a:latin typeface="Poppins"/>
              </a:defRPr>
            </a:pPr>
            <a:r>
              <a:rPr sz="1400" b="1">
                <a:solidFill>
                  <a:srgbClr val="262626"/>
                </a:solidFill>
                <a:latin typeface="Poppins"/>
              </a:rPr>
              <a:t>Lancement public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3A3A3"/>
                </a:solidFill>
                <a:latin typeface="Inter"/>
              </a:defRPr>
            </a:pPr>
            <a:r>
              <a:rPr sz="1200" b="0">
                <a:solidFill>
                  <a:srgbClr val="A3A3A3"/>
                </a:solidFill>
                <a:latin typeface="Inter"/>
              </a:rPr>
              <a:t>Ete 2026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L'equipe derriere Rallia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2103120"/>
            <a:ext cx="1371600" cy="1371600"/>
          </a:xfrm>
          <a:prstGeom prst="ellipse">
            <a:avLst/>
          </a:prstGeom>
          <a:solidFill>
            <a:srgbClr val="F5F5F5"/>
          </a:solidFill>
          <a:ln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1717"/>
                </a:solidFill>
                <a:latin typeface="Poppins"/>
              </a:defRPr>
            </a:pPr>
            <a:r>
              <a:rPr sz="2200" b="1">
                <a:solidFill>
                  <a:srgbClr val="171717"/>
                </a:solidFill>
                <a:latin typeface="Poppins"/>
              </a:rPr>
              <a:t>[Nom]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Inter"/>
              </a:defRPr>
            </a:pPr>
            <a:r>
              <a:rPr sz="1600" b="1">
                <a:solidFill>
                  <a:srgbClr val="14B8A6"/>
                </a:solidFill>
                <a:latin typeface="Inter"/>
              </a:rPr>
              <a:t>CEO / 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Inter"/>
              </a:defRPr>
            </a:pPr>
            <a:r>
              <a:rPr sz="1400" b="0">
                <a:solidFill>
                  <a:srgbClr val="737373"/>
                </a:solidFill>
                <a:latin typeface="Inter"/>
              </a:rPr>
              <a:t>[Expertise]</a:t>
            </a:r>
          </a:p>
        </p:txBody>
      </p:sp>
      <p:sp>
        <p:nvSpPr>
          <p:cNvPr id="10" name="Oval 9"/>
          <p:cNvSpPr/>
          <p:nvPr/>
        </p:nvSpPr>
        <p:spPr>
          <a:xfrm>
            <a:off x="5349240" y="2103120"/>
            <a:ext cx="1371600" cy="1371600"/>
          </a:xfrm>
          <a:prstGeom prst="ellipse">
            <a:avLst/>
          </a:prstGeom>
          <a:solidFill>
            <a:srgbClr val="F5F5F5"/>
          </a:solidFill>
          <a:ln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84632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1717"/>
                </a:solidFill>
                <a:latin typeface="Poppins"/>
              </a:defRPr>
            </a:pPr>
            <a:r>
              <a:rPr sz="2200" b="1">
                <a:solidFill>
                  <a:srgbClr val="171717"/>
                </a:solidFill>
                <a:latin typeface="Poppins"/>
              </a:rPr>
              <a:t>[Nom]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Inter"/>
              </a:defRPr>
            </a:pPr>
            <a:r>
              <a:rPr sz="1600" b="1">
                <a:solidFill>
                  <a:srgbClr val="14B8A6"/>
                </a:solidFill>
                <a:latin typeface="Inter"/>
              </a:rPr>
              <a:t>CTO /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Inter"/>
              </a:defRPr>
            </a:pPr>
            <a:r>
              <a:rPr sz="1400" b="0">
                <a:solidFill>
                  <a:srgbClr val="737373"/>
                </a:solidFill>
                <a:latin typeface="Inter"/>
              </a:rPr>
              <a:t>[Expertise]</a:t>
            </a:r>
          </a:p>
        </p:txBody>
      </p:sp>
      <p:sp>
        <p:nvSpPr>
          <p:cNvPr id="14" name="Oval 13"/>
          <p:cNvSpPr/>
          <p:nvPr/>
        </p:nvSpPr>
        <p:spPr>
          <a:xfrm>
            <a:off x="8823960" y="2103120"/>
            <a:ext cx="1371600" cy="1371600"/>
          </a:xfrm>
          <a:prstGeom prst="ellipse">
            <a:avLst/>
          </a:prstGeom>
          <a:solidFill>
            <a:srgbClr val="F5F5F5"/>
          </a:solidFill>
          <a:ln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32104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1717"/>
                </a:solidFill>
                <a:latin typeface="Poppins"/>
              </a:defRPr>
            </a:pPr>
            <a:r>
              <a:rPr sz="2200" b="1">
                <a:solidFill>
                  <a:srgbClr val="171717"/>
                </a:solidFill>
                <a:latin typeface="Poppins"/>
              </a:rPr>
              <a:t>[Nom]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Inter"/>
              </a:defRPr>
            </a:pPr>
            <a:r>
              <a:rPr sz="1600" b="1">
                <a:solidFill>
                  <a:srgbClr val="14B8A6"/>
                </a:solidFill>
                <a:latin typeface="Inter"/>
              </a:rPr>
              <a:t>[Role]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Inter"/>
              </a:defRPr>
            </a:pPr>
            <a:r>
              <a:rPr sz="1400" b="0">
                <a:solidFill>
                  <a:srgbClr val="737373"/>
                </a:solidFill>
                <a:latin typeface="Inter"/>
              </a:rPr>
              <a:t>[Expertise]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10515600" cy="457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Support :  La Base Entrepreneuriale HEC Montreal  |  Parcours Eclosion  |  [Aviseurs]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71717"/>
                </a:solidFill>
                <a:latin typeface="Poppins"/>
              </a:defRPr>
            </a:pPr>
            <a:r>
              <a:rPr sz="4200" b="1">
                <a:solidFill>
                  <a:srgbClr val="171717"/>
                </a:solidFill>
                <a:latin typeface="Poppins"/>
              </a:rPr>
              <a:t>Rendre le sport de raquette</a:t>
            </a:r>
            <a:br/>
            <a:r>
              <a:rPr sz="4200" b="1">
                <a:solidFill>
                  <a:srgbClr val="171717"/>
                </a:solidFill>
                <a:latin typeface="Poppins"/>
              </a:rPr>
              <a:t>accessible a tous.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031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3200400" y="3840480"/>
            <a:ext cx="2743200" cy="54864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383280" y="3886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766E"/>
                </a:solidFill>
                <a:latin typeface="Inter"/>
              </a:defRPr>
            </a:pPr>
            <a:r>
              <a:rPr sz="1400" b="1">
                <a:solidFill>
                  <a:srgbClr val="0F766E"/>
                </a:solidFill>
                <a:latin typeface="Inter"/>
              </a:rPr>
              <a:t>ODD 3 — Sante et bien-etre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2743200" cy="54864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583680" y="3886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766E"/>
                </a:solidFill>
                <a:latin typeface="Inter"/>
              </a:defRPr>
            </a:pPr>
            <a:r>
              <a:rPr sz="1400" b="1">
                <a:solidFill>
                  <a:srgbClr val="0F766E"/>
                </a:solidFill>
                <a:latin typeface="Inter"/>
              </a:rPr>
              <a:t>ODD 11 — Villes durables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25252"/>
                </a:solidFill>
                <a:latin typeface="Inter"/>
              </a:defRPr>
            </a:pPr>
            <a:r>
              <a:rPr sz="2200" b="0">
                <a:solidFill>
                  <a:srgbClr val="525252"/>
                </a:solidFill>
                <a:latin typeface="Inter"/>
              </a:rPr>
              <a:t>Dans 5 ans, Rallia est la reference pour organiser un match</a:t>
            </a:r>
            <a:br/>
            <a:r>
              <a:rPr sz="2200" b="0">
                <a:solidFill>
                  <a:srgbClr val="525252"/>
                </a:solidFill>
                <a:latin typeface="Inter"/>
              </a:rPr>
              <a:t>de raquette au Canada — du parc municipal au club prive.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6576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sz="1400" b="1">
                <a:solidFill>
                  <a:srgbClr val="FFFFFF"/>
                </a:solidFill>
                <a:latin typeface="Poppin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rPr sz="1400" b="0">
                <a:solidFill>
                  <a:srgbClr val="A3A3A3"/>
                </a:solidFill>
                <a:latin typeface="Inter"/>
              </a:rPr>
              <a:t>Prochaines etapes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Poppins"/>
              </a:defRPr>
            </a:pPr>
            <a:r>
              <a:rPr sz="3200" b="1">
                <a:solidFill>
                  <a:srgbClr val="171717"/>
                </a:solidFill>
                <a:latin typeface="Poppins"/>
              </a:rPr>
              <a:t>What's coming next?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37744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23774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Poppins"/>
              </a:defRPr>
            </a:pPr>
            <a:r>
              <a:rPr sz="2400" b="1">
                <a:solidFill>
                  <a:srgbClr val="14B8A6"/>
                </a:solidFill>
                <a:latin typeface="Poppins"/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25252"/>
                </a:solidFill>
                <a:latin typeface="Inter"/>
              </a:defRPr>
            </a:pPr>
            <a:r>
              <a:rPr sz="1800" b="0">
                <a:solidFill>
                  <a:srgbClr val="525252"/>
                </a:solidFill>
                <a:latin typeface="Inter"/>
              </a:rPr>
              <a:t>Lancement public</a:t>
            </a:r>
            <a:br/>
            <a:r>
              <a:rPr sz="1800" b="0">
                <a:solidFill>
                  <a:srgbClr val="525252"/>
                </a:solidFill>
                <a:latin typeface="Inter"/>
              </a:rPr>
              <a:t>Montreal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237744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3657600" y="228600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Poppins"/>
              </a:defRPr>
            </a:pPr>
            <a:r>
              <a:rPr sz="2400" b="1">
                <a:solidFill>
                  <a:srgbClr val="0D9488"/>
                </a:solidFill>
                <a:latin typeface="Poppins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25252"/>
                </a:solidFill>
                <a:latin typeface="Inter"/>
              </a:defRPr>
            </a:pPr>
            <a:r>
              <a:rPr sz="1800" b="0">
                <a:solidFill>
                  <a:srgbClr val="525252"/>
                </a:solidFill>
                <a:latin typeface="Inter"/>
              </a:rPr>
              <a:t>Expansion</a:t>
            </a:r>
            <a:br/>
            <a:r>
              <a:rPr sz="1800" b="0">
                <a:solidFill>
                  <a:srgbClr val="525252"/>
                </a:solidFill>
                <a:latin typeface="Inter"/>
              </a:rPr>
              <a:t>Quebec + Ontario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37744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23774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Poppins"/>
              </a:defRPr>
            </a:pPr>
            <a:r>
              <a:rPr sz="2400" b="1">
                <a:solidFill>
                  <a:srgbClr val="0F766E"/>
                </a:solidFill>
                <a:latin typeface="Poppins"/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25252"/>
                </a:solidFill>
                <a:latin typeface="Inter"/>
              </a:defRPr>
            </a:pPr>
            <a:r>
              <a:rPr sz="1800" b="0">
                <a:solidFill>
                  <a:srgbClr val="525252"/>
                </a:solidFill>
                <a:latin typeface="Inter"/>
              </a:rPr>
              <a:t>Partenariats clubs</a:t>
            </a:r>
            <a:br/>
            <a:r>
              <a:rPr sz="1800" b="0">
                <a:solidFill>
                  <a:srgbClr val="525252"/>
                </a:solidFill>
                <a:latin typeface="Inter"/>
              </a:rPr>
              <a:t>et installations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37744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9144000" y="2286000"/>
            <a:ext cx="2377440" cy="54864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3268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15E59"/>
                </a:solidFill>
                <a:latin typeface="Poppins"/>
              </a:defRPr>
            </a:pPr>
            <a:r>
              <a:rPr sz="2400" b="1">
                <a:solidFill>
                  <a:srgbClr val="115E59"/>
                </a:solidFill>
                <a:latin typeface="Poppins"/>
              </a:rP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25252"/>
                </a:solidFill>
                <a:latin typeface="Inter"/>
              </a:defRPr>
            </a:pPr>
            <a:r>
              <a:rPr sz="1800" b="0">
                <a:solidFill>
                  <a:srgbClr val="525252"/>
                </a:solidFill>
                <a:latin typeface="Inter"/>
              </a:rPr>
              <a:t>Expansion</a:t>
            </a:r>
            <a:br/>
            <a:r>
              <a:rPr sz="1800" b="0">
                <a:solidFill>
                  <a:srgbClr val="525252"/>
                </a:solidFill>
                <a:latin typeface="Inter"/>
              </a:rPr>
              <a:t>Canada + US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600"/>
            <a:ext cx="1463040" cy="6070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Poppins"/>
              </a:defRPr>
            </a:pPr>
            <a:r>
              <a:rPr sz="4200" b="1">
                <a:solidFill>
                  <a:srgbClr val="FFFFFF"/>
                </a:solidFill>
                <a:latin typeface="Poppins"/>
              </a:rPr>
              <a:t>Notre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D4D4"/>
                </a:solidFill>
                <a:latin typeface="Inter"/>
              </a:defRPr>
            </a:pPr>
            <a:r>
              <a:rPr sz="2200" b="0">
                <a:solidFill>
                  <a:srgbClr val="D4D4D4"/>
                </a:solidFill>
                <a:latin typeface="Inter"/>
              </a:rPr>
              <a:t>[Votre demande concrete ici]</a:t>
            </a:r>
            <a:br/>
            <a:br/>
            <a:r>
              <a:rPr sz="2200" b="0">
                <a:solidFill>
                  <a:srgbClr val="D4D4D4"/>
                </a:solidFill>
                <a:latin typeface="Inter"/>
              </a:rPr>
              <a:t>Ex: Financement de X$ pour...</a:t>
            </a:r>
            <a:br/>
            <a:r>
              <a:rPr sz="2200" b="0">
                <a:solidFill>
                  <a:srgbClr val="D4D4D4"/>
                </a:solidFill>
                <a:latin typeface="Inter"/>
              </a:rPr>
              <a:t>Ex: Contacts dans l'industrie du sport au Quebec</a:t>
            </a:r>
            <a:br/>
            <a:r>
              <a:rPr sz="2200" b="0">
                <a:solidFill>
                  <a:srgbClr val="D4D4D4"/>
                </a:solidFill>
                <a:latin typeface="Inter"/>
              </a:rPr>
              <a:t>Ex: Partenaires beta — clubs de tennis a Montreal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"/>
            <a:ext cx="2103120" cy="8726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888A"/>
                </a:solidFill>
                <a:latin typeface="Inter"/>
              </a:defRPr>
            </a:pPr>
            <a:r>
              <a:rPr sz="2800" b="0">
                <a:solidFill>
                  <a:srgbClr val="F1888A"/>
                </a:solidFill>
                <a:latin typeface="Inter"/>
              </a:rPr>
              <a:t>Trouvez votre match. Jouez. Progressez.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1031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37373"/>
                </a:solidFill>
                <a:latin typeface="Inter"/>
              </a:defRPr>
            </a:pPr>
            <a:r>
              <a:rPr sz="1600" b="0">
                <a:solidFill>
                  <a:srgbClr val="737373"/>
                </a:solidFill>
                <a:latin typeface="Inter"/>
              </a:rPr>
              <a:t>[Boucler avec le hook de l'intro]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914400"/>
            <a:ext cx="5486400" cy="22765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