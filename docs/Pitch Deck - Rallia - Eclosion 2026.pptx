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 Semi-Bold" charset="1" panose="000007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649" r="0" b="-101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28995" y="5920805"/>
            <a:ext cx="6293942" cy="0"/>
          </a:xfrm>
          <a:prstGeom prst="line">
            <a:avLst/>
          </a:prstGeom>
          <a:ln cap="flat" w="4762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94123" y="6077234"/>
            <a:ext cx="9986889" cy="67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Ta prochaine partie t’attend.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39667" y="9191625"/>
            <a:ext cx="14196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Avril 2026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80229" y="2931062"/>
            <a:ext cx="6642708" cy="2756381"/>
            <a:chOff x="0" y="0"/>
            <a:chExt cx="8856944" cy="367517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484588" y="1837588"/>
              <a:ext cx="1486181" cy="1047935"/>
              <a:chOff x="0" y="0"/>
              <a:chExt cx="358177" cy="252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58177" cy="252558"/>
              </a:xfrm>
              <a:custGeom>
                <a:avLst/>
                <a:gdLst/>
                <a:ahLst/>
                <a:cxnLst/>
                <a:rect r="r" b="b" t="t" l="l"/>
                <a:pathLst>
                  <a:path h="252558" w="358177">
                    <a:moveTo>
                      <a:pt x="0" y="0"/>
                    </a:moveTo>
                    <a:lnTo>
                      <a:pt x="358177" y="0"/>
                    </a:lnTo>
                    <a:lnTo>
                      <a:pt x="358177" y="252558"/>
                    </a:lnTo>
                    <a:lnTo>
                      <a:pt x="0" y="252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358177" cy="3192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1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785889" y="1837588"/>
              <a:ext cx="1390910" cy="1047935"/>
              <a:chOff x="0" y="0"/>
              <a:chExt cx="335216" cy="25255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5216" cy="252558"/>
              </a:xfrm>
              <a:custGeom>
                <a:avLst/>
                <a:gdLst/>
                <a:ahLst/>
                <a:cxnLst/>
                <a:rect r="r" b="b" t="t" l="l"/>
                <a:pathLst>
                  <a:path h="252558" w="335216">
                    <a:moveTo>
                      <a:pt x="0" y="0"/>
                    </a:moveTo>
                    <a:lnTo>
                      <a:pt x="335216" y="0"/>
                    </a:lnTo>
                    <a:lnTo>
                      <a:pt x="335216" y="252558"/>
                    </a:lnTo>
                    <a:lnTo>
                      <a:pt x="0" y="252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335216" cy="3192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1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56944" cy="3675175"/>
            </a:xfrm>
            <a:custGeom>
              <a:avLst/>
              <a:gdLst/>
              <a:ahLst/>
              <a:cxnLst/>
              <a:rect r="r" b="b" t="t" l="l"/>
              <a:pathLst>
                <a:path h="3675175" w="8856944">
                  <a:moveTo>
                    <a:pt x="0" y="0"/>
                  </a:moveTo>
                  <a:lnTo>
                    <a:pt x="8856944" y="0"/>
                  </a:lnTo>
                  <a:lnTo>
                    <a:pt x="8856944" y="3675175"/>
                  </a:lnTo>
                  <a:lnTo>
                    <a:pt x="0" y="3675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cap="flat" w="28575">
            <a:solidFill>
              <a:srgbClr val="44D4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916171" y="3288761"/>
            <a:ext cx="2734863" cy="0"/>
          </a:xfrm>
          <a:prstGeom prst="line">
            <a:avLst/>
          </a:prstGeom>
          <a:ln cap="flat" w="95250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422688" y="3658366"/>
            <a:ext cx="13442624" cy="376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47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Le meilleur placement pour votre retraite ? </a:t>
            </a:r>
          </a:p>
          <a:p>
            <a:pPr algn="l">
              <a:lnSpc>
                <a:spcPts val="1754"/>
              </a:lnSpc>
            </a:pPr>
          </a:p>
          <a:p>
            <a:pPr algn="l">
              <a:lnSpc>
                <a:spcPts val="5499"/>
              </a:lnSpc>
            </a:pPr>
            <a:r>
              <a:rPr lang="en-US" sz="47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La pratique régulière du tennis. </a:t>
            </a:r>
          </a:p>
          <a:p>
            <a:pPr algn="l">
              <a:lnSpc>
                <a:spcPts val="1754"/>
              </a:lnSpc>
            </a:pPr>
          </a:p>
          <a:p>
            <a:pPr algn="l">
              <a:lnSpc>
                <a:spcPts val="5499"/>
              </a:lnSpc>
            </a:pPr>
            <a:r>
              <a:rPr lang="en-US" sz="47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Le rendement : +10 ans de vie.</a:t>
            </a:r>
          </a:p>
          <a:p>
            <a:pPr algn="l">
              <a:lnSpc>
                <a:spcPts val="943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cap="flat" w="28575">
            <a:solidFill>
              <a:srgbClr val="44D4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264887" y="3682098"/>
            <a:ext cx="14994413" cy="333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99"/>
              </a:lnSpc>
            </a:pPr>
            <a:r>
              <a:rPr lang="en-US" sz="47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+10 ans à portée de raquette… mais pas à portée de main.</a:t>
            </a:r>
          </a:p>
          <a:p>
            <a:pPr algn="r">
              <a:lnSpc>
                <a:spcPts val="3978"/>
              </a:lnSpc>
            </a:pPr>
            <a:r>
              <a:rPr lang="en-US" sz="34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r">
              <a:lnSpc>
                <a:spcPts val="5499"/>
              </a:lnSpc>
            </a:pPr>
            <a:r>
              <a:rPr lang="en-US" b="true" sz="4700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Partenaire, niveau, moment, terrain : le bon match tient à trop de variables</a:t>
            </a:r>
          </a:p>
        </p:txBody>
      </p:sp>
      <p:sp>
        <p:nvSpPr>
          <p:cNvPr name="AutoShape 4" id="4"/>
          <p:cNvSpPr/>
          <p:nvPr/>
        </p:nvSpPr>
        <p:spPr>
          <a:xfrm>
            <a:off x="14524437" y="3254230"/>
            <a:ext cx="2734863" cy="0"/>
          </a:xfrm>
          <a:prstGeom prst="line">
            <a:avLst/>
          </a:prstGeom>
          <a:ln cap="flat" w="95250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605031" y="3204670"/>
            <a:ext cx="1399582" cy="0"/>
          </a:xfrm>
          <a:prstGeom prst="line">
            <a:avLst/>
          </a:prstGeom>
          <a:ln cap="rnd" w="2857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605031" y="4678075"/>
            <a:ext cx="1399582" cy="0"/>
          </a:xfrm>
          <a:prstGeom prst="line">
            <a:avLst/>
          </a:prstGeom>
          <a:ln cap="rnd" w="2857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605031" y="6227455"/>
            <a:ext cx="1399582" cy="0"/>
          </a:xfrm>
          <a:prstGeom prst="line">
            <a:avLst/>
          </a:prstGeom>
          <a:ln cap="rnd" w="2857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212732" y="3050690"/>
            <a:ext cx="5363744" cy="4512250"/>
          </a:xfrm>
          <a:custGeom>
            <a:avLst/>
            <a:gdLst/>
            <a:ahLst/>
            <a:cxnLst/>
            <a:rect r="r" b="b" t="t" l="l"/>
            <a:pathLst>
              <a:path h="4512250" w="5363744">
                <a:moveTo>
                  <a:pt x="0" y="0"/>
                </a:moveTo>
                <a:lnTo>
                  <a:pt x="5363744" y="0"/>
                </a:lnTo>
                <a:lnTo>
                  <a:pt x="5363744" y="4512249"/>
                </a:lnTo>
                <a:lnTo>
                  <a:pt x="0" y="451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68039" y="4436854"/>
            <a:ext cx="1726449" cy="42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8" b="true">
                <a:solidFill>
                  <a:srgbClr val="2254C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Terrains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039" y="5986234"/>
            <a:ext cx="2136992" cy="84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8" b="true">
                <a:solidFill>
                  <a:srgbClr val="2254C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Solutions existantes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8039" y="953721"/>
            <a:ext cx="1286953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Aujourd’hui!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8039" y="2963448"/>
            <a:ext cx="2111666" cy="84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8" b="true">
                <a:solidFill>
                  <a:srgbClr val="2254C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Partenaires de jeu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79332" y="2992023"/>
            <a:ext cx="4392729" cy="10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70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Vos cercles sociaux...mais très limités</a:t>
            </a:r>
          </a:p>
          <a:p>
            <a:pPr algn="l">
              <a:lnSpc>
                <a:spcPts val="980"/>
              </a:lnSpc>
            </a:pPr>
          </a:p>
          <a:p>
            <a:pPr algn="l" marL="280670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Des groupes privés et communautés publiques en ligne souvent peu structurés et...au resultat peu prédictible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79332" y="4472398"/>
            <a:ext cx="3943580" cy="109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Informations sur les terrains dispersées (Public vs Privé)</a:t>
            </a:r>
          </a:p>
          <a:p>
            <a:pPr algn="l">
              <a:lnSpc>
                <a:spcPts val="1400"/>
              </a:lnSpc>
            </a:pP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Règles de reservations et paiement hétérogènes et non centralisées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9332" y="6014809"/>
            <a:ext cx="4128304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Des initiatives éphémères des fédérations et OBNL: Activités et maillage....mais sans échelle ni fluidité</a:t>
            </a:r>
          </a:p>
          <a:p>
            <a:pPr algn="l">
              <a:lnSpc>
                <a:spcPts val="1400"/>
              </a:lnSpc>
            </a:pP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Plusieurs applications niches ayant une faible pénétration ( UTR Sports, Pickleheads, CourtReserve, CatchCorner,...)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039" y="7602294"/>
            <a:ext cx="16109746" cy="184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40"/>
              </a:lnSpc>
            </a:pPr>
            <a:r>
              <a:rPr lang="en-US" b="true" sz="41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Le constat</a:t>
            </a:r>
          </a:p>
          <a:p>
            <a:pPr algn="just">
              <a:lnSpc>
                <a:spcPts val="2919"/>
              </a:lnSpc>
            </a:pPr>
            <a:r>
              <a:rPr lang="en-US" b="true" sz="2085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Aucune</a:t>
            </a:r>
            <a:r>
              <a:rPr lang="en-US" sz="2085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 solution unique, fluide et prédictible ne connecte aujourd'hui joueurs + terrains.</a:t>
            </a:r>
            <a:r>
              <a:rPr lang="en-US" sz="2085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 Le marché est fragmenté, et l'expérience utilisateur reste un parcours du combattant.</a:t>
            </a:r>
          </a:p>
          <a:p>
            <a:pPr algn="just">
              <a:lnSpc>
                <a:spcPts val="2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70252" y="946772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850061" y="3521220"/>
            <a:ext cx="5777266" cy="4821005"/>
          </a:xfrm>
          <a:custGeom>
            <a:avLst/>
            <a:gdLst/>
            <a:ahLst/>
            <a:cxnLst/>
            <a:rect r="r" b="b" t="t" l="l"/>
            <a:pathLst>
              <a:path h="4821005" w="5777266">
                <a:moveTo>
                  <a:pt x="0" y="0"/>
                </a:moveTo>
                <a:lnTo>
                  <a:pt x="5777266" y="0"/>
                </a:lnTo>
                <a:lnTo>
                  <a:pt x="5777266" y="4821005"/>
                </a:lnTo>
                <a:lnTo>
                  <a:pt x="0" y="4821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18" t="-522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9785" y="1272103"/>
            <a:ext cx="956871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Le problème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589" y="3163384"/>
            <a:ext cx="10014061" cy="127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Les  défis de l’organisation des parties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imitent significativement la pratique récréative des sports de raquettes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6589" y="5151151"/>
            <a:ext cx="9568716" cy="127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Un énorme gap</a:t>
            </a:r>
          </a:p>
          <a:p>
            <a:pPr algn="just">
              <a:lnSpc>
                <a:spcPts val="1399"/>
              </a:lnSpc>
            </a:pPr>
            <a:r>
              <a:rPr lang="en-US" b="true" sz="9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just">
              <a:lnSpc>
                <a:spcPts val="2919"/>
              </a:lnSpc>
              <a:spcBef>
                <a:spcPct val="0"/>
              </a:spcBef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Entre l’intention de jouer et...les parties réellement jouées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6589" y="7066958"/>
            <a:ext cx="9568716" cy="127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 resultat</a:t>
            </a:r>
          </a:p>
          <a:p>
            <a:pPr algn="just">
              <a:lnSpc>
                <a:spcPts val="1399"/>
              </a:lnSpc>
            </a:pPr>
            <a:r>
              <a:rPr lang="en-US" sz="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just">
              <a:lnSpc>
                <a:spcPts val="2919"/>
              </a:lnSpc>
              <a:spcBef>
                <a:spcPct val="0"/>
              </a:spcBef>
            </a:pPr>
            <a:r>
              <a:rPr lang="en-US" b="true" sz="2085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De 100% d’envie de jouer à 29% de parties réellement jouées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628354" y="1774033"/>
            <a:ext cx="3622778" cy="7484267"/>
          </a:xfrm>
          <a:custGeom>
            <a:avLst/>
            <a:gdLst/>
            <a:ahLst/>
            <a:cxnLst/>
            <a:rect r="r" b="b" t="t" l="l"/>
            <a:pathLst>
              <a:path h="7484267" w="3622778">
                <a:moveTo>
                  <a:pt x="0" y="0"/>
                </a:moveTo>
                <a:lnTo>
                  <a:pt x="3622778" y="0"/>
                </a:lnTo>
                <a:lnTo>
                  <a:pt x="3622778" y="7484267"/>
                </a:lnTo>
                <a:lnTo>
                  <a:pt x="0" y="748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66" t="-23002" r="-26274" b="-852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2685" y="1272103"/>
            <a:ext cx="956871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La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9489" y="2991934"/>
            <a:ext cx="9568716" cy="200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Notre promesse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2919"/>
              </a:lnSpc>
            </a:pPr>
            <a:r>
              <a:rPr lang="en-US" sz="2085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Donner aux jou</a:t>
            </a:r>
            <a:r>
              <a:rPr lang="en-US" sz="2085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eurs le pouvoir de pratiquer quand ils le souhaitent</a:t>
            </a:r>
          </a:p>
          <a:p>
            <a:pPr algn="l">
              <a:lnSpc>
                <a:spcPts val="2919"/>
              </a:lnSpc>
            </a:pPr>
            <a:r>
              <a:rPr lang="en-US" sz="2085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 En limitant l'impact des facteurs hors de leur contrôle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39489" y="5092289"/>
            <a:ext cx="9568716" cy="199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Rallia</a:t>
            </a:r>
          </a:p>
          <a:p>
            <a:pPr algn="just">
              <a:lnSpc>
                <a:spcPts val="1399"/>
              </a:lnSpc>
            </a:pPr>
          </a:p>
          <a:p>
            <a:pPr algn="just">
              <a:lnSpc>
                <a:spcPts val="2919"/>
              </a:lnSpc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Une application </a:t>
            </a: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 planification qui intègre </a:t>
            </a:r>
            <a:r>
              <a:rPr lang="en-US" sz="2085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en un seul endroit tout le processus d'organisation des matchs</a:t>
            </a:r>
          </a:p>
          <a:p>
            <a:pPr algn="just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39489" y="7221219"/>
            <a:ext cx="9568716" cy="127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 résultat</a:t>
            </a:r>
          </a:p>
          <a:p>
            <a:pPr algn="just">
              <a:lnSpc>
                <a:spcPts val="1399"/>
              </a:lnSpc>
            </a:pPr>
          </a:p>
          <a:p>
            <a:pPr algn="just">
              <a:lnSpc>
                <a:spcPts val="2919"/>
              </a:lnSpc>
              <a:spcBef>
                <a:spcPct val="0"/>
              </a:spcBef>
            </a:pPr>
            <a:r>
              <a:rPr lang="en-US" b="true" sz="2085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De l’intention à l’action...en quelques clics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511416"/>
            <a:ext cx="7231237" cy="4826851"/>
          </a:xfrm>
          <a:custGeom>
            <a:avLst/>
            <a:gdLst/>
            <a:ahLst/>
            <a:cxnLst/>
            <a:rect r="r" b="b" t="t" l="l"/>
            <a:pathLst>
              <a:path h="4826851" w="7231237">
                <a:moveTo>
                  <a:pt x="0" y="0"/>
                </a:moveTo>
                <a:lnTo>
                  <a:pt x="7231237" y="0"/>
                </a:lnTo>
                <a:lnTo>
                  <a:pt x="7231237" y="4826851"/>
                </a:lnTo>
                <a:lnTo>
                  <a:pt x="0" y="4826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8039" y="1004522"/>
            <a:ext cx="9964045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Le modèle d’affaires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45606" y="2685517"/>
            <a:ext cx="6587191" cy="259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Les joueurs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La souscription à l’application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Des crédits pour certaines fonctionnalités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Une commision sur les parties payantes</a:t>
            </a:r>
          </a:p>
          <a:p>
            <a:pPr algn="l">
              <a:lnSpc>
                <a:spcPts val="2919"/>
              </a:lnSpc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45606" y="5016609"/>
            <a:ext cx="6587191" cy="179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Les opérateurs de terrains 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La soucription à notre SaaS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Des commissions sur les reservations de terrains et d’activités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45606" y="6961800"/>
            <a:ext cx="6587191" cy="223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Les autres sources potentielles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La soucription pour des comptes de Coaching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La publicité in-app</a:t>
            </a:r>
          </a:p>
          <a:p>
            <a:pPr algn="l">
              <a:lnSpc>
                <a:spcPts val="1399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Un forfait santé/bien-être entreprise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014665" y="3653318"/>
            <a:ext cx="6244635" cy="4516289"/>
          </a:xfrm>
          <a:custGeom>
            <a:avLst/>
            <a:gdLst/>
            <a:ahLst/>
            <a:cxnLst/>
            <a:rect r="r" b="b" t="t" l="l"/>
            <a:pathLst>
              <a:path h="4516289" w="6244635">
                <a:moveTo>
                  <a:pt x="0" y="0"/>
                </a:moveTo>
                <a:lnTo>
                  <a:pt x="6244635" y="0"/>
                </a:lnTo>
                <a:lnTo>
                  <a:pt x="6244635" y="4516289"/>
                </a:lnTo>
                <a:lnTo>
                  <a:pt x="0" y="4516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75" t="0" r="-427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2685" y="1253053"/>
            <a:ext cx="956871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Un cas d’utilisation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9489" y="2888551"/>
            <a:ext cx="8042175" cy="132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Sara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35 ans, jeune maman, vie profession</a:t>
            </a: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nelle + familiale intense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39489" y="4459433"/>
            <a:ext cx="9568716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Son besoin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Un défouloir. Retrouv</a:t>
            </a: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er le plaisir du tennis d'avant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39489" y="6030809"/>
            <a:ext cx="10056920" cy="128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Son frein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Son entourage n'est pas disponibl</a:t>
            </a: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e. Ses plages horaires sont très limitées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39489" y="7581372"/>
            <a:ext cx="15217923" cy="200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Avec Rallia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Quelques clics → premiers matchs organisés</a:t>
            </a: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 → reprise régulière très rapide dans une communautés Rallia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 la frustration… à la pratique régulière.</a:t>
            </a:r>
          </a:p>
          <a:p>
            <a:pPr algn="l">
              <a:lnSpc>
                <a:spcPts val="2919"/>
              </a:lnSpc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8039" y="2914130"/>
            <a:ext cx="7039116" cy="3781287"/>
            <a:chOff x="0" y="0"/>
            <a:chExt cx="9385489" cy="5041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85489" cy="5041715"/>
            </a:xfrm>
            <a:custGeom>
              <a:avLst/>
              <a:gdLst/>
              <a:ahLst/>
              <a:cxnLst/>
              <a:rect r="r" b="b" t="t" l="l"/>
              <a:pathLst>
                <a:path h="5041715" w="9385489">
                  <a:moveTo>
                    <a:pt x="0" y="0"/>
                  </a:moveTo>
                  <a:lnTo>
                    <a:pt x="9385489" y="0"/>
                  </a:lnTo>
                  <a:lnTo>
                    <a:pt x="9385489" y="5041715"/>
                  </a:lnTo>
                  <a:lnTo>
                    <a:pt x="0" y="5041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70761" y="1219626"/>
              <a:ext cx="505326" cy="721895"/>
            </a:xfrm>
            <a:custGeom>
              <a:avLst/>
              <a:gdLst/>
              <a:ahLst/>
              <a:cxnLst/>
              <a:rect r="r" b="b" t="t" l="l"/>
              <a:pathLst>
                <a:path h="721895" w="505326">
                  <a:moveTo>
                    <a:pt x="0" y="0"/>
                  </a:moveTo>
                  <a:lnTo>
                    <a:pt x="505327" y="0"/>
                  </a:lnTo>
                  <a:lnTo>
                    <a:pt x="505327" y="721895"/>
                  </a:lnTo>
                  <a:lnTo>
                    <a:pt x="0" y="721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765163" y="3867162"/>
              <a:ext cx="195622" cy="279460"/>
            </a:xfrm>
            <a:custGeom>
              <a:avLst/>
              <a:gdLst/>
              <a:ahLst/>
              <a:cxnLst/>
              <a:rect r="r" b="b" t="t" l="l"/>
              <a:pathLst>
                <a:path h="279460" w="195622">
                  <a:moveTo>
                    <a:pt x="0" y="0"/>
                  </a:moveTo>
                  <a:lnTo>
                    <a:pt x="195622" y="0"/>
                  </a:lnTo>
                  <a:lnTo>
                    <a:pt x="195622" y="279460"/>
                  </a:lnTo>
                  <a:lnTo>
                    <a:pt x="0" y="27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297130" y="2265019"/>
              <a:ext cx="195622" cy="279460"/>
            </a:xfrm>
            <a:custGeom>
              <a:avLst/>
              <a:gdLst/>
              <a:ahLst/>
              <a:cxnLst/>
              <a:rect r="r" b="b" t="t" l="l"/>
              <a:pathLst>
                <a:path h="279460" w="195622">
                  <a:moveTo>
                    <a:pt x="0" y="0"/>
                  </a:moveTo>
                  <a:lnTo>
                    <a:pt x="195622" y="0"/>
                  </a:lnTo>
                  <a:lnTo>
                    <a:pt x="195622" y="279460"/>
                  </a:lnTo>
                  <a:lnTo>
                    <a:pt x="0" y="27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104763" y="3867162"/>
              <a:ext cx="195622" cy="279460"/>
            </a:xfrm>
            <a:custGeom>
              <a:avLst/>
              <a:gdLst/>
              <a:ahLst/>
              <a:cxnLst/>
              <a:rect r="r" b="b" t="t" l="l"/>
              <a:pathLst>
                <a:path h="279460" w="195622">
                  <a:moveTo>
                    <a:pt x="0" y="0"/>
                  </a:moveTo>
                  <a:lnTo>
                    <a:pt x="195622" y="0"/>
                  </a:lnTo>
                  <a:lnTo>
                    <a:pt x="195622" y="279460"/>
                  </a:lnTo>
                  <a:lnTo>
                    <a:pt x="0" y="27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19790" y="952877"/>
              <a:ext cx="275402" cy="393432"/>
            </a:xfrm>
            <a:custGeom>
              <a:avLst/>
              <a:gdLst/>
              <a:ahLst/>
              <a:cxnLst/>
              <a:rect r="r" b="b" t="t" l="l"/>
              <a:pathLst>
                <a:path h="393432" w="275402">
                  <a:moveTo>
                    <a:pt x="0" y="0"/>
                  </a:moveTo>
                  <a:lnTo>
                    <a:pt x="275403" y="0"/>
                  </a:lnTo>
                  <a:lnTo>
                    <a:pt x="275403" y="393432"/>
                  </a:lnTo>
                  <a:lnTo>
                    <a:pt x="0" y="393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84085" y="1004297"/>
              <a:ext cx="461021" cy="658601"/>
            </a:xfrm>
            <a:custGeom>
              <a:avLst/>
              <a:gdLst/>
              <a:ahLst/>
              <a:cxnLst/>
              <a:rect r="r" b="b" t="t" l="l"/>
              <a:pathLst>
                <a:path h="658601" w="461021">
                  <a:moveTo>
                    <a:pt x="0" y="0"/>
                  </a:moveTo>
                  <a:lnTo>
                    <a:pt x="461021" y="0"/>
                  </a:lnTo>
                  <a:lnTo>
                    <a:pt x="461021" y="658601"/>
                  </a:lnTo>
                  <a:lnTo>
                    <a:pt x="0" y="658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018782" y="2966937"/>
              <a:ext cx="195622" cy="279460"/>
            </a:xfrm>
            <a:custGeom>
              <a:avLst/>
              <a:gdLst/>
              <a:ahLst/>
              <a:cxnLst/>
              <a:rect r="r" b="b" t="t" l="l"/>
              <a:pathLst>
                <a:path h="279460" w="195622">
                  <a:moveTo>
                    <a:pt x="0" y="0"/>
                  </a:moveTo>
                  <a:lnTo>
                    <a:pt x="195621" y="0"/>
                  </a:lnTo>
                  <a:lnTo>
                    <a:pt x="195621" y="279460"/>
                  </a:lnTo>
                  <a:lnTo>
                    <a:pt x="0" y="27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02325" y="1543840"/>
            <a:ext cx="3410565" cy="384656"/>
            <a:chOff x="0" y="0"/>
            <a:chExt cx="1406421" cy="1586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6421" cy="158621"/>
            </a:xfrm>
            <a:custGeom>
              <a:avLst/>
              <a:gdLst/>
              <a:ahLst/>
              <a:cxnLst/>
              <a:rect r="r" b="b" t="t" l="l"/>
              <a:pathLst>
                <a:path h="158621" w="1406421">
                  <a:moveTo>
                    <a:pt x="0" y="0"/>
                  </a:moveTo>
                  <a:lnTo>
                    <a:pt x="1406421" y="0"/>
                  </a:lnTo>
                  <a:lnTo>
                    <a:pt x="1406421" y="158621"/>
                  </a:lnTo>
                  <a:lnTo>
                    <a:pt x="0" y="158621"/>
                  </a:lnTo>
                  <a:close/>
                </a:path>
              </a:pathLst>
            </a:custGeom>
            <a:solidFill>
              <a:srgbClr val="CE4F5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02325" y="4328668"/>
            <a:ext cx="3410565" cy="384656"/>
            <a:chOff x="0" y="0"/>
            <a:chExt cx="1406421" cy="158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6421" cy="158621"/>
            </a:xfrm>
            <a:custGeom>
              <a:avLst/>
              <a:gdLst/>
              <a:ahLst/>
              <a:cxnLst/>
              <a:rect r="r" b="b" t="t" l="l"/>
              <a:pathLst>
                <a:path h="158621" w="1406421">
                  <a:moveTo>
                    <a:pt x="0" y="0"/>
                  </a:moveTo>
                  <a:lnTo>
                    <a:pt x="1406421" y="0"/>
                  </a:lnTo>
                  <a:lnTo>
                    <a:pt x="1406421" y="158621"/>
                  </a:lnTo>
                  <a:lnTo>
                    <a:pt x="0" y="158621"/>
                  </a:lnTo>
                  <a:close/>
                </a:path>
              </a:pathLst>
            </a:custGeom>
            <a:solidFill>
              <a:srgbClr val="CE4F5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02325" y="7075397"/>
            <a:ext cx="3410565" cy="384656"/>
            <a:chOff x="0" y="0"/>
            <a:chExt cx="1406421" cy="1586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6421" cy="158621"/>
            </a:xfrm>
            <a:custGeom>
              <a:avLst/>
              <a:gdLst/>
              <a:ahLst/>
              <a:cxnLst/>
              <a:rect r="r" b="b" t="t" l="l"/>
              <a:pathLst>
                <a:path h="158621" w="1406421">
                  <a:moveTo>
                    <a:pt x="0" y="0"/>
                  </a:moveTo>
                  <a:lnTo>
                    <a:pt x="1406421" y="0"/>
                  </a:lnTo>
                  <a:lnTo>
                    <a:pt x="1406421" y="158621"/>
                  </a:lnTo>
                  <a:lnTo>
                    <a:pt x="0" y="158621"/>
                  </a:lnTo>
                  <a:close/>
                </a:path>
              </a:pathLst>
            </a:custGeom>
            <a:solidFill>
              <a:srgbClr val="CE4F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68039" y="7099433"/>
            <a:ext cx="9312743" cy="2529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3 vents porteurs</a:t>
            </a:r>
          </a:p>
          <a:p>
            <a:pPr algn="l">
              <a:lnSpc>
                <a:spcPts val="1679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plosion du Pickleball (+311</a:t>
            </a: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% US, +57% Canada) en 2025</a:t>
            </a:r>
          </a:p>
          <a:p>
            <a:pPr algn="l">
              <a:lnSpc>
                <a:spcPts val="1399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echerche de bien-être &amp; socialisation (p</a:t>
            </a: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ost-Covid)</a:t>
            </a:r>
          </a:p>
          <a:p>
            <a:pPr algn="l">
              <a:lnSpc>
                <a:spcPts val="1399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102536"/>
                </a:solidFill>
                <a:latin typeface="Poppins"/>
                <a:ea typeface="Poppins"/>
                <a:cs typeface="Poppins"/>
                <a:sym typeface="Poppins"/>
              </a:rPr>
              <a:t>La friction est desormais l’un des enemis numéro 1 des expériences utilisateurs</a:t>
            </a:r>
          </a:p>
          <a:p>
            <a:pPr algn="l">
              <a:lnSpc>
                <a:spcPts val="2919"/>
              </a:lnSpc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AutoShape 18" id="18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669781" y="4274021"/>
            <a:ext cx="345766" cy="493951"/>
          </a:xfrm>
          <a:custGeom>
            <a:avLst/>
            <a:gdLst/>
            <a:ahLst/>
            <a:cxnLst/>
            <a:rect r="r" b="b" t="t" l="l"/>
            <a:pathLst>
              <a:path h="493951" w="345766">
                <a:moveTo>
                  <a:pt x="0" y="0"/>
                </a:moveTo>
                <a:lnTo>
                  <a:pt x="345765" y="0"/>
                </a:lnTo>
                <a:lnTo>
                  <a:pt x="345765" y="493951"/>
                </a:lnTo>
                <a:lnTo>
                  <a:pt x="0" y="49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68039" y="1026723"/>
            <a:ext cx="840190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Le marché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02325" y="2765304"/>
            <a:ext cx="4655051" cy="11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850</a:t>
            </a:r>
            <a:r>
              <a:rPr lang="en-US" sz="1700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M joueurs récréatifs de sports de raquettes à travers le monde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 25 Md$ (50$/an par utilisateur)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802325" y="2039616"/>
            <a:ext cx="377811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25 Milliards USD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79856" y="1570751"/>
            <a:ext cx="3065363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TAM - Marché Total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02325" y="4824444"/>
            <a:ext cx="377811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5,2 Milliards USD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79856" y="4365104"/>
            <a:ext cx="316980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SAM - Marché Adressable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79856" y="8247447"/>
            <a:ext cx="4137459" cy="6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587" indent="-183293" lvl="1">
              <a:lnSpc>
                <a:spcPts val="2377"/>
              </a:lnSpc>
              <a:buFont typeface="Arial"/>
              <a:buChar char="•"/>
            </a:pPr>
            <a:r>
              <a:rPr lang="en-US" sz="1697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Notre obkectif est capturer 0.2% du SAM en 3 années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02325" y="7571172"/>
            <a:ext cx="377811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10 Million USD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79856" y="7118483"/>
            <a:ext cx="316980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SOM - Marché cible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79856" y="5500347"/>
            <a:ext cx="4811973" cy="11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72</a:t>
            </a:r>
            <a:r>
              <a:rPr lang="en-US" sz="1700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M joueurs de tennis et de pickleball en Amérique du Nord dont 52M uniques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CE4F55"/>
                </a:solidFill>
                <a:latin typeface="Poppins"/>
                <a:ea typeface="Poppins"/>
                <a:cs typeface="Poppins"/>
                <a:sym typeface="Poppins"/>
              </a:rPr>
              <a:t> 5,2 Md$ (100$/an par utilisateur)</a:t>
            </a:r>
          </a:p>
          <a:p>
            <a:pPr algn="l">
              <a:lnSpc>
                <a:spcPts val="23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1235" y="1272103"/>
            <a:ext cx="1600253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La traction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8039" y="3068134"/>
            <a:ext cx="14869207" cy="326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  <a:p>
            <a:pPr algn="l">
              <a:lnSpc>
                <a:spcPts val="2919"/>
              </a:lnSpc>
            </a:pPr>
          </a:p>
          <a:p>
            <a:pPr algn="l" marL="450223" indent="-225111" lvl="1">
              <a:lnSpc>
                <a:spcPts val="2919"/>
              </a:lnSpc>
              <a:buFont typeface="Arial"/>
              <a:buChar char="•"/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Le gap entre les intentions et les parties réelles : </a:t>
            </a:r>
            <a:r>
              <a:rPr lang="en-US" b="true" sz="2085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29% des intentions converties</a:t>
            </a:r>
          </a:p>
          <a:p>
            <a:pPr algn="l">
              <a:lnSpc>
                <a:spcPts val="1399"/>
              </a:lnSpc>
            </a:pPr>
          </a:p>
          <a:p>
            <a:pPr algn="l" marL="450223" indent="-225111" lvl="1">
              <a:lnSpc>
                <a:spcPts val="2919"/>
              </a:lnSpc>
              <a:buFont typeface="Arial"/>
              <a:buChar char="•"/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La disposition des joueurs de tennis et pickleball à pratiquer avec des inconnus : </a:t>
            </a:r>
            <a:r>
              <a:rPr lang="en-US" b="true" sz="2085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82</a:t>
            </a:r>
            <a:r>
              <a:rPr lang="en-US" b="true" sz="2085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 % des joueurs</a:t>
            </a:r>
          </a:p>
          <a:p>
            <a:pPr algn="l">
              <a:lnSpc>
                <a:spcPts val="1399"/>
              </a:lnSpc>
            </a:pPr>
          </a:p>
          <a:p>
            <a:pPr algn="l" marL="450223" indent="-225111" lvl="1">
              <a:lnSpc>
                <a:spcPts val="2919"/>
              </a:lnSpc>
              <a:buFont typeface="Arial"/>
              <a:buChar char="•"/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L’intérêt des clubs pour un marcé secondaire : En cours</a:t>
            </a:r>
          </a:p>
          <a:p>
            <a:pPr algn="l">
              <a:lnSpc>
                <a:spcPts val="2919"/>
              </a:lnSpc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468039" y="5304603"/>
            <a:ext cx="13683571" cy="367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Nos accomplissements</a:t>
            </a:r>
          </a:p>
          <a:p>
            <a:pPr algn="just">
              <a:lnSpc>
                <a:spcPts val="2919"/>
              </a:lnSpc>
            </a:pPr>
          </a:p>
          <a:p>
            <a:pPr algn="l" marL="450223" indent="-225111" lvl="1">
              <a:lnSpc>
                <a:spcPts val="2919"/>
              </a:lnSpc>
              <a:buFont typeface="Arial"/>
              <a:buChar char="•"/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Notre MVP est prêt en phase de beta test</a:t>
            </a:r>
          </a:p>
          <a:p>
            <a:pPr algn="l">
              <a:lnSpc>
                <a:spcPts val="1679"/>
              </a:lnSpc>
            </a:pPr>
          </a:p>
          <a:p>
            <a:pPr algn="l" marL="450223" indent="-225111" lvl="1">
              <a:lnSpc>
                <a:spcPts val="2919"/>
              </a:lnSpc>
              <a:buFont typeface="Arial"/>
              <a:buChar char="•"/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Notre stratégie de mise marché  a été développé et est en cours d’opérationnalisaiton</a:t>
            </a:r>
          </a:p>
          <a:p>
            <a:pPr algn="l">
              <a:lnSpc>
                <a:spcPts val="1679"/>
              </a:lnSpc>
            </a:pPr>
          </a:p>
          <a:p>
            <a:pPr algn="l" marL="450223" indent="-225111" lvl="1">
              <a:lnSpc>
                <a:spcPts val="2919"/>
              </a:lnSpc>
              <a:buFont typeface="Arial"/>
              <a:buChar char="•"/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 300 joueurs sur notre liste d’attente</a:t>
            </a:r>
          </a:p>
          <a:p>
            <a:pPr algn="just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-970252" y="94105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585339" y="4819650"/>
            <a:ext cx="2692009" cy="2691998"/>
            <a:chOff x="0" y="0"/>
            <a:chExt cx="6350025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50392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611077" y="4819650"/>
            <a:ext cx="2692009" cy="2691998"/>
            <a:chOff x="0" y="0"/>
            <a:chExt cx="6350025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-7097" t="-5296" r="-4800" b="-4147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614918" y="4819650"/>
            <a:ext cx="739921" cy="374261"/>
            <a:chOff x="0" y="0"/>
            <a:chExt cx="1360284" cy="688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284" cy="688049"/>
            </a:xfrm>
            <a:custGeom>
              <a:avLst/>
              <a:gdLst/>
              <a:ahLst/>
              <a:cxnLst/>
              <a:rect r="r" b="b" t="t" l="l"/>
              <a:pathLst>
                <a:path h="688049" w="1360284">
                  <a:moveTo>
                    <a:pt x="0" y="0"/>
                  </a:moveTo>
                  <a:lnTo>
                    <a:pt x="1360284" y="0"/>
                  </a:lnTo>
                  <a:lnTo>
                    <a:pt x="1360284" y="688049"/>
                  </a:lnTo>
                  <a:lnTo>
                    <a:pt x="0" y="688049"/>
                  </a:lnTo>
                  <a:close/>
                </a:path>
              </a:pathLst>
            </a:custGeom>
            <a:solidFill>
              <a:srgbClr val="CE4F5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63165" y="4819650"/>
            <a:ext cx="739921" cy="374261"/>
            <a:chOff x="0" y="0"/>
            <a:chExt cx="1360284" cy="6880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0284" cy="688049"/>
            </a:xfrm>
            <a:custGeom>
              <a:avLst/>
              <a:gdLst/>
              <a:ahLst/>
              <a:cxnLst/>
              <a:rect r="r" b="b" t="t" l="l"/>
              <a:pathLst>
                <a:path h="688049" w="1360284">
                  <a:moveTo>
                    <a:pt x="0" y="0"/>
                  </a:moveTo>
                  <a:lnTo>
                    <a:pt x="1360284" y="0"/>
                  </a:lnTo>
                  <a:lnTo>
                    <a:pt x="1360284" y="688049"/>
                  </a:lnTo>
                  <a:lnTo>
                    <a:pt x="0" y="688049"/>
                  </a:lnTo>
                  <a:close/>
                </a:path>
              </a:pathLst>
            </a:custGeom>
            <a:solidFill>
              <a:srgbClr val="CE4F55"/>
            </a:solidFill>
          </p:spPr>
        </p:sp>
      </p:grpSp>
      <p:sp>
        <p:nvSpPr>
          <p:cNvPr name="AutoShape 10" id="10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345688" y="1362801"/>
            <a:ext cx="6698552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Notre équipe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5688" y="3008702"/>
            <a:ext cx="15782905" cy="182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No</a:t>
            </a:r>
            <a:r>
              <a:rPr lang="en-US" sz="2577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us connaissons le problème de l’intérieur : 30+ ans d’expérience de jeu cumulée et une solution pensée par des joueurs, pour des joueurs.</a:t>
            </a:r>
          </a:p>
          <a:p>
            <a:pPr algn="l">
              <a:lnSpc>
                <a:spcPts val="3608"/>
              </a:lnSpc>
            </a:pPr>
          </a:p>
          <a:p>
            <a:pPr algn="l">
              <a:lnSpc>
                <a:spcPts val="360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692408" y="4892052"/>
            <a:ext cx="58494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56832" y="4892052"/>
            <a:ext cx="55258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5339" y="7606824"/>
            <a:ext cx="2487996" cy="39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 b="true">
                <a:solidFill>
                  <a:srgbClr val="2254C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Jean Sonkin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11077" y="7559124"/>
            <a:ext cx="2516901" cy="39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 b="true">
                <a:solidFill>
                  <a:srgbClr val="2254C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Mathis Lefranc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82339" y="8091364"/>
            <a:ext cx="409308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Ingénieur et Gestionnaire de projets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M. Ing - ETS &amp; MBA - HEC Montreal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20 années de pratique du tennis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5352" y="8091364"/>
            <a:ext cx="615051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Développeur logiciel full stack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Bac Commerce - McGill &amp; DESS Informatique - Concordia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12 années de pratique du tennis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-970252" y="9534401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1235" y="1272103"/>
            <a:ext cx="11329735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Notre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8039" y="3188636"/>
            <a:ext cx="15183052" cy="163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Notre Vision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2919"/>
              </a:lnSpc>
            </a:pPr>
            <a:r>
              <a:rPr lang="en-US" sz="2085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Devenir la meilleure application d’organisation des parties de sports de raquettes au monde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68039" y="5094624"/>
            <a:ext cx="15183052" cy="127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Notre Mission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2919"/>
              </a:lnSpc>
              <a:spcBef>
                <a:spcPct val="0"/>
              </a:spcBef>
            </a:pPr>
            <a:r>
              <a:rPr lang="en-US" b="true" sz="2085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Permettre aux joueurs de convertir toutes leurs intentions de jeu en parties réélles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8039" y="6912815"/>
            <a:ext cx="15183052" cy="199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 5 à 10 ans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2919"/>
              </a:lnSpc>
            </a:pPr>
            <a:r>
              <a:rPr lang="en-US" sz="2085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Conquéri</a:t>
            </a:r>
            <a:r>
              <a:rPr lang="en-US" sz="2085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r le marché nord-américain avec nos solutions dédiées aux joueurs et aux clubs et faciliter l’organisation d’au moins 100M$ de parties de sports de raquettes chaque année.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70252" y="9562976"/>
            <a:ext cx="20335605" cy="0"/>
          </a:xfrm>
          <a:prstGeom prst="line">
            <a:avLst/>
          </a:prstGeom>
          <a:ln cap="flat" w="4762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7207" y="5273621"/>
            <a:ext cx="5540630" cy="3659890"/>
          </a:xfrm>
          <a:custGeom>
            <a:avLst/>
            <a:gdLst/>
            <a:ahLst/>
            <a:cxnLst/>
            <a:rect r="r" b="b" t="t" l="l"/>
            <a:pathLst>
              <a:path h="3659890" w="5540630">
                <a:moveTo>
                  <a:pt x="0" y="0"/>
                </a:moveTo>
                <a:lnTo>
                  <a:pt x="5540630" y="0"/>
                </a:lnTo>
                <a:lnTo>
                  <a:pt x="5540630" y="3659890"/>
                </a:lnTo>
                <a:lnTo>
                  <a:pt x="0" y="365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90" t="-4705" r="-2235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5224" y="5273621"/>
            <a:ext cx="5841619" cy="3659890"/>
          </a:xfrm>
          <a:custGeom>
            <a:avLst/>
            <a:gdLst/>
            <a:ahLst/>
            <a:cxnLst/>
            <a:rect r="r" b="b" t="t" l="l"/>
            <a:pathLst>
              <a:path h="3659890" w="5841619">
                <a:moveTo>
                  <a:pt x="0" y="0"/>
                </a:moveTo>
                <a:lnTo>
                  <a:pt x="5841619" y="0"/>
                </a:lnTo>
                <a:lnTo>
                  <a:pt x="5841619" y="3659890"/>
                </a:lnTo>
                <a:lnTo>
                  <a:pt x="0" y="3659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79" t="-253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1235" y="1272103"/>
            <a:ext cx="11329735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Les prochaines étapes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012" y="3312461"/>
            <a:ext cx="5747234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 lancement de l’application à Montréal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15224" y="3312461"/>
            <a:ext cx="686971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 test de nos hypothèses de croissance et de monetisation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cap="flat" w="28575">
            <a:solidFill>
              <a:srgbClr val="44D4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916171" y="3701148"/>
            <a:ext cx="14628260" cy="304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Aidez-nous à faire du lancement de Rallia à Montréal un succès!</a:t>
            </a:r>
          </a:p>
          <a:p>
            <a:pPr algn="l">
              <a:lnSpc>
                <a:spcPts val="10483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916171" y="3193511"/>
            <a:ext cx="2734863" cy="0"/>
          </a:xfrm>
          <a:prstGeom prst="line">
            <a:avLst/>
          </a:prstGeom>
          <a:ln cap="flat" w="95250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916171" y="5333520"/>
            <a:ext cx="15343129" cy="190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</a:p>
          <a:p>
            <a:pPr algn="l">
              <a:lnSpc>
                <a:spcPts val="5031"/>
              </a:lnSpc>
            </a:pPr>
          </a:p>
          <a:p>
            <a:pPr algn="l">
              <a:lnSpc>
                <a:spcPts val="4680"/>
              </a:lnSpc>
            </a:pPr>
            <a:r>
              <a:rPr lang="en-US" sz="40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Téléchargez     ·    </a:t>
            </a:r>
            <a:r>
              <a:rPr lang="en-US" sz="40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Testez     </a:t>
            </a:r>
            <a:r>
              <a:rPr lang="en-US" sz="40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·     </a:t>
            </a:r>
            <a:r>
              <a:rPr lang="en-US" sz="4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Rétroagissez     </a:t>
            </a:r>
            <a:r>
              <a:rPr lang="en-US" sz="40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·     Parlez-en!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C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cap="flat" w="28575">
            <a:solidFill>
              <a:srgbClr val="44D4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916171" y="3612035"/>
            <a:ext cx="15343129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Ceux que vous aimez méritent </a:t>
            </a:r>
            <a:r>
              <a:rPr lang="en-US" sz="50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+10 ans de vie</a:t>
            </a:r>
            <a:r>
              <a:rPr lang="en-US" sz="5000" b="true">
                <a:solidFill>
                  <a:srgbClr val="10253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>
              <a:lnSpc>
                <a:spcPts val="5850"/>
              </a:lnSpc>
            </a:pPr>
          </a:p>
          <a:p>
            <a:pPr algn="l">
              <a:lnSpc>
                <a:spcPts val="5850"/>
              </a:lnSpc>
            </a:pPr>
            <a:r>
              <a:rPr lang="en-US" sz="5000" b="true">
                <a:solidFill>
                  <a:srgbClr val="2254C5"/>
                </a:solidFill>
                <a:latin typeface="Poppins Bold"/>
                <a:ea typeface="Poppins Bold"/>
                <a:cs typeface="Poppins Bold"/>
                <a:sym typeface="Poppins Bold"/>
              </a:rPr>
              <a:t>Les sports de raquettes sont la clé.</a:t>
            </a:r>
          </a:p>
          <a:p>
            <a:pPr algn="l">
              <a:lnSpc>
                <a:spcPts val="5850"/>
              </a:lnSpc>
            </a:pPr>
          </a:p>
          <a:p>
            <a:pPr algn="l">
              <a:lnSpc>
                <a:spcPts val="5850"/>
              </a:lnSpc>
            </a:pPr>
            <a:r>
              <a:rPr lang="en-US" sz="5000" b="true">
                <a:solidFill>
                  <a:srgbClr val="CE4F55"/>
                </a:solidFill>
                <a:latin typeface="Poppins Bold"/>
                <a:ea typeface="Poppins Bold"/>
                <a:cs typeface="Poppins Bold"/>
                <a:sym typeface="Poppins Bold"/>
              </a:rPr>
              <a:t>Rallia est le coup de main.</a:t>
            </a:r>
          </a:p>
          <a:p>
            <a:pPr algn="l">
              <a:lnSpc>
                <a:spcPts val="5850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916171" y="2888711"/>
            <a:ext cx="2734863" cy="0"/>
          </a:xfrm>
          <a:prstGeom prst="line">
            <a:avLst/>
          </a:prstGeom>
          <a:ln cap="flat" w="95250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DAHGFLOXZk0</dc:identifier>
  <dcterms:modified xsi:type="dcterms:W3CDTF">2011-08-01T06:04:30Z</dcterms:modified>
  <cp:revision>1</cp:revision>
  <dc:title>Pitch Deck - Rallia - Eclosion 2026</dc:title>
</cp:coreProperties>
</file>